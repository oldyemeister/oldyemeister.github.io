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331baba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331baba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ea2075a0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ea2075a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ea2075a0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ea2075a0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e9ea433e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e9ea433e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https://www.digikey.ca/en/models/13927938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ea2075a0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ea2075a0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ea2075a0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ea2075a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ea2075a05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ea2075a05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ea2075a05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ea2075a05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ea2075a05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ea2075a0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Reference Db is 1Vrms, 3.3dBm -&gt; 1.46Vrms-&gt;4.14Vpp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e9ea433e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e9ea433e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331baba0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331baba0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ea2075a0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ea2075a0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e9ea433e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e9ea433e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7.jpg"/><Relationship Id="rId5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digikey.ca/en/models/1392793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Milestone 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</a:rPr>
              <a:t>Team A6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325" y="702925"/>
            <a:ext cx="5283877" cy="37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Overview of PCB design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0" y="1017725"/>
            <a:ext cx="8520600" cy="3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CA">
                <a:solidFill>
                  <a:schemeClr val="dk1"/>
                </a:solidFill>
              </a:rPr>
              <a:t>Tests in LTspice and/or on-board for major part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CA">
                <a:solidFill>
                  <a:schemeClr val="dk1"/>
                </a:solidFill>
              </a:rPr>
              <a:t>Ensure modules work before pcb design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36700"/>
            <a:ext cx="4634352" cy="260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8597" y="1811049"/>
            <a:ext cx="4445024" cy="333244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6918150" y="4211050"/>
            <a:ext cx="721800" cy="521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Schematic Overview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24" y="1456125"/>
            <a:ext cx="4398276" cy="24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250" y="1365950"/>
            <a:ext cx="4183051" cy="28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BandPass Filter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4341850"/>
            <a:ext cx="9792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550" y="1017725"/>
            <a:ext cx="6562549" cy="253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825" y="1017725"/>
            <a:ext cx="5668672" cy="3016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36250" y="288875"/>
            <a:ext cx="88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PCB Footprint for ADT1-1WT+ </a:t>
            </a:r>
            <a:r>
              <a:rPr lang="en-CA"/>
              <a:t>Center Tapped</a:t>
            </a:r>
            <a:r>
              <a:rPr lang="en-CA"/>
              <a:t> Transformer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660225" y="4438475"/>
            <a:ext cx="2288100" cy="3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[1]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5075" y="943725"/>
            <a:ext cx="1963874" cy="190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225" y="861575"/>
            <a:ext cx="2111400" cy="357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2400" y="1007150"/>
            <a:ext cx="3316705" cy="18381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7307700" y="2990825"/>
            <a:ext cx="1015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2"/>
                </a:solidFill>
              </a:rPr>
              <a:t>[2]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Mixer-</a:t>
            </a:r>
            <a:r>
              <a:rPr lang="en-CA"/>
              <a:t>Gilbert cell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760" y="1185738"/>
            <a:ext cx="4244716" cy="381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4">
            <a:alphaModFix/>
          </a:blip>
          <a:srcRect b="17682" l="39555" r="0" t="4254"/>
          <a:stretch/>
        </p:blipFill>
        <p:spPr>
          <a:xfrm>
            <a:off x="311700" y="1017725"/>
            <a:ext cx="4244725" cy="3880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Mixer Output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00" y="951675"/>
            <a:ext cx="4665752" cy="2634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449" y="2153649"/>
            <a:ext cx="4240124" cy="2989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Subtractor and Low pass Filter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175" y="1624062"/>
            <a:ext cx="7138499" cy="24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Amplifier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637600" cy="38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CA">
                <a:solidFill>
                  <a:schemeClr val="dk1"/>
                </a:solidFill>
              </a:rPr>
              <a:t>Non-Inverting </a:t>
            </a:r>
            <a:r>
              <a:rPr lang="en-CA">
                <a:solidFill>
                  <a:schemeClr val="dk1"/>
                </a:solidFill>
              </a:rPr>
              <a:t>Op Amp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CA">
                <a:solidFill>
                  <a:schemeClr val="dk1"/>
                </a:solidFill>
              </a:rPr>
              <a:t>AC-Coupled output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6800" y="2192787"/>
            <a:ext cx="5388549" cy="270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1" y="2874679"/>
            <a:ext cx="3185101" cy="202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Complete Spice Simulation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00" y="1017731"/>
            <a:ext cx="8780598" cy="4094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08031"/>
            <a:ext cx="9144002" cy="3503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Board Connector Model </a:t>
            </a:r>
            <a:r>
              <a:rPr lang="en-CA"/>
              <a:t>selection</a:t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25" y="1297312"/>
            <a:ext cx="3912791" cy="2059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8625" y="1221500"/>
            <a:ext cx="2858850" cy="22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/>
        </p:nvSpPr>
        <p:spPr>
          <a:xfrm>
            <a:off x="827575" y="3591400"/>
            <a:ext cx="3575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</a:rPr>
              <a:t>61300411121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</a:rPr>
              <a:t>(used model for PCB schematic) [3]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5394900" y="3583575"/>
            <a:ext cx="2818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</a:rPr>
              <a:t>PRPC004SAAN-RC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</a:rPr>
              <a:t>(ICD document) [4]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Key Features of PCB Design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69450" y="933225"/>
            <a:ext cx="8653500" cy="13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CA" sz="1300">
                <a:solidFill>
                  <a:schemeClr val="dk1"/>
                </a:solidFill>
              </a:rPr>
              <a:t>Full Customization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CA" sz="1300">
                <a:solidFill>
                  <a:schemeClr val="dk1"/>
                </a:solidFill>
              </a:rPr>
              <a:t>no reliance on specialized Mixer ICs that may have long lead times.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CA" sz="1300">
                <a:solidFill>
                  <a:schemeClr val="dk1"/>
                </a:solidFill>
              </a:rPr>
              <a:t>precise control over gain, filtering, impedance matching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CA" sz="1300">
                <a:solidFill>
                  <a:schemeClr val="dk1"/>
                </a:solidFill>
              </a:rPr>
              <a:t>Signal Integrity and Isolation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CA" sz="1300">
                <a:solidFill>
                  <a:schemeClr val="dk1"/>
                </a:solidFill>
              </a:rPr>
              <a:t>purpendicular and thick RF-</a:t>
            </a:r>
            <a:r>
              <a:rPr lang="en-CA" sz="1300">
                <a:solidFill>
                  <a:schemeClr val="dk1"/>
                </a:solidFill>
              </a:rPr>
              <a:t>carrying</a:t>
            </a:r>
            <a:r>
              <a:rPr lang="en-CA" sz="1300">
                <a:solidFill>
                  <a:schemeClr val="dk1"/>
                </a:solidFill>
              </a:rPr>
              <a:t> traces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CA" sz="1300">
                <a:solidFill>
                  <a:schemeClr val="dk1"/>
                </a:solidFill>
              </a:rPr>
              <a:t>low EM interference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0" y="2292225"/>
            <a:ext cx="8986000" cy="2813300"/>
          </a:xfrm>
          <a:prstGeom prst="rect">
            <a:avLst/>
          </a:prstGeom>
          <a:noFill/>
          <a:ln cap="flat" cmpd="sng" w="9525">
            <a:solidFill>
              <a:srgbClr val="918F8E"/>
            </a:solidFill>
            <a:prstDash val="dash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2132850"/>
            <a:ext cx="85206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5420"/>
              <a:t>Q&amp;A</a:t>
            </a:r>
            <a:endParaRPr b="1" sz="54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Citation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1"/>
                </a:solidFill>
              </a:rPr>
              <a:t>[1] </a:t>
            </a:r>
            <a:r>
              <a:rPr i="1" lang="en-CA" sz="1200">
                <a:solidFill>
                  <a:schemeClr val="dk1"/>
                </a:solidFill>
              </a:rPr>
              <a:t>Surface Mount RF Transformer</a:t>
            </a:r>
            <a:r>
              <a:rPr lang="en-CA" sz="1200">
                <a:solidFill>
                  <a:schemeClr val="dk1"/>
                </a:solidFill>
              </a:rPr>
              <a:t>, Mini-Circuits., </a:t>
            </a:r>
            <a:r>
              <a:rPr lang="en-CA" sz="1200">
                <a:solidFill>
                  <a:schemeClr val="dk1"/>
                </a:solidFill>
              </a:rPr>
              <a:t>Brooklyn</a:t>
            </a:r>
            <a:r>
              <a:rPr lang="en-CA" sz="1200">
                <a:solidFill>
                  <a:schemeClr val="dk1"/>
                </a:solidFill>
              </a:rPr>
              <a:t>, </a:t>
            </a:r>
            <a:r>
              <a:rPr lang="en-CA" sz="1200">
                <a:solidFill>
                  <a:schemeClr val="dk1"/>
                </a:solidFill>
              </a:rPr>
              <a:t>New York</a:t>
            </a:r>
            <a:r>
              <a:rPr lang="en-CA" sz="1200">
                <a:solidFill>
                  <a:schemeClr val="dk1"/>
                </a:solidFill>
              </a:rPr>
              <a:t>, USA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chemeClr val="dk1"/>
                </a:solidFill>
              </a:rPr>
              <a:t>[2] DigiKey, “ADT1-1WT+ Footprints and Models” digikey.ca. Accessed: Mar. 9, 2025. [Online]. </a:t>
            </a:r>
            <a:r>
              <a:rPr lang="en-CA" sz="1200">
                <a:solidFill>
                  <a:schemeClr val="dk1"/>
                </a:solidFill>
              </a:rPr>
              <a:t>Available</a:t>
            </a:r>
            <a:r>
              <a:rPr lang="en-CA" sz="1200">
                <a:solidFill>
                  <a:schemeClr val="dk1"/>
                </a:solidFill>
              </a:rPr>
              <a:t>: </a:t>
            </a:r>
            <a:r>
              <a:rPr lang="en-CA" sz="1100" u="sng">
                <a:solidFill>
                  <a:schemeClr val="hlink"/>
                </a:solidFill>
                <a:hlinkClick r:id="rId3"/>
              </a:rPr>
              <a:t>https://www.digikey.ca/en/models/13927938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200"/>
              <a:t>[3]</a:t>
            </a:r>
            <a:r>
              <a:rPr lang="en-CA"/>
              <a:t> </a:t>
            </a:r>
            <a:r>
              <a:rPr i="1" lang="en-CA" sz="1200">
                <a:solidFill>
                  <a:srgbClr val="141413"/>
                </a:solidFill>
              </a:rPr>
              <a:t>WR-PHD Pin Header</a:t>
            </a:r>
            <a:r>
              <a:rPr lang="en-CA" sz="1200">
                <a:solidFill>
                  <a:srgbClr val="141413"/>
                </a:solidFill>
              </a:rPr>
              <a:t>, Würth Elektronik eiSos GmbH &amp; Co., Max-Eyth-Str. </a:t>
            </a:r>
            <a:r>
              <a:rPr lang="en-CA" sz="1200">
                <a:solidFill>
                  <a:srgbClr val="141413"/>
                </a:solidFill>
              </a:rPr>
              <a:t>1</a:t>
            </a:r>
            <a:r>
              <a:rPr lang="en-CA" sz="1200">
                <a:solidFill>
                  <a:srgbClr val="141413"/>
                </a:solidFill>
              </a:rPr>
              <a:t>74638, Waldenburg, Germany</a:t>
            </a:r>
            <a:endParaRPr sz="1200">
              <a:solidFill>
                <a:srgbClr val="1414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141413"/>
                </a:solidFill>
              </a:rPr>
              <a:t>[4] </a:t>
            </a:r>
            <a:r>
              <a:rPr i="1" lang="en-CA" sz="1200">
                <a:solidFill>
                  <a:schemeClr val="dk1"/>
                </a:solidFill>
              </a:rPr>
              <a:t>HEADER MALE .100" PITCH, STRAIGHT</a:t>
            </a:r>
            <a:r>
              <a:rPr lang="en-CA" sz="1200">
                <a:solidFill>
                  <a:schemeClr val="dk1"/>
                </a:solidFill>
              </a:rPr>
              <a:t>, Sullins Connector Solutions.,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414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414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414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